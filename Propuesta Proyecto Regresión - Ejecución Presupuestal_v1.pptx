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46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F769-C66D-455E-9A21-94A4C28B960A}" type="datetimeFigureOut">
              <a:rPr lang="es-PE" smtClean="0"/>
              <a:t>5/03/2026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CE46F-BA46-4B00-9FFB-9D5794E9B8D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07362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F769-C66D-455E-9A21-94A4C28B960A}" type="datetimeFigureOut">
              <a:rPr lang="es-PE" smtClean="0"/>
              <a:t>5/03/2026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CE46F-BA46-4B00-9FFB-9D5794E9B8D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83401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F769-C66D-455E-9A21-94A4C28B960A}" type="datetimeFigureOut">
              <a:rPr lang="es-PE" smtClean="0"/>
              <a:t>5/03/2026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CE46F-BA46-4B00-9FFB-9D5794E9B8D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24501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F769-C66D-455E-9A21-94A4C28B960A}" type="datetimeFigureOut">
              <a:rPr lang="es-PE" smtClean="0"/>
              <a:t>5/03/2026</a:t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CE46F-BA46-4B00-9FFB-9D5794E9B8D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31892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F769-C66D-455E-9A21-94A4C28B960A}" type="datetimeFigureOut">
              <a:rPr lang="es-PE" smtClean="0"/>
              <a:t>5/03/2026</a:t>
            </a:fld>
            <a:endParaRPr lang="es-PE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CE46F-BA46-4B00-9FFB-9D5794E9B8D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35643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F769-C66D-455E-9A21-94A4C28B960A}" type="datetimeFigureOut">
              <a:rPr lang="es-PE" smtClean="0"/>
              <a:t>5/03/2026</a:t>
            </a:fld>
            <a:endParaRPr lang="es-PE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CE46F-BA46-4B00-9FFB-9D5794E9B8D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92520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F769-C66D-455E-9A21-94A4C28B960A}" type="datetimeFigureOut">
              <a:rPr lang="es-PE" smtClean="0"/>
              <a:t>5/03/2026</a:t>
            </a:fld>
            <a:endParaRPr lang="es-PE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CE46F-BA46-4B00-9FFB-9D5794E9B8D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808049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F769-C66D-455E-9A21-94A4C28B960A}" type="datetimeFigureOut">
              <a:rPr lang="es-PE" smtClean="0"/>
              <a:t>5/03/2026</a:t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CE46F-BA46-4B00-9FFB-9D5794E9B8D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647946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F769-C66D-455E-9A21-94A4C28B960A}" type="datetimeFigureOut">
              <a:rPr lang="es-PE" smtClean="0"/>
              <a:t>5/03/2026</a:t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CE46F-BA46-4B00-9FFB-9D5794E9B8D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57984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F769-C66D-455E-9A21-94A4C28B960A}" type="datetimeFigureOut">
              <a:rPr lang="es-PE" smtClean="0"/>
              <a:t>5/03/2026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CE46F-BA46-4B00-9FFB-9D5794E9B8D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863742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F769-C66D-455E-9A21-94A4C28B960A}" type="datetimeFigureOut">
              <a:rPr lang="es-PE" smtClean="0"/>
              <a:t>5/03/2026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CE46F-BA46-4B00-9FFB-9D5794E9B8D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74286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96F769-C66D-455E-9A21-94A4C28B960A}" type="datetimeFigureOut">
              <a:rPr lang="es-PE" smtClean="0"/>
              <a:t>5/03/2026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CE46F-BA46-4B00-9FFB-9D5794E9B8D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85743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548887"/>
            <a:ext cx="9144000" cy="2387600"/>
          </a:xfrm>
        </p:spPr>
        <p:txBody>
          <a:bodyPr>
            <a:noAutofit/>
          </a:bodyPr>
          <a:lstStyle/>
          <a:p>
            <a:r>
              <a:rPr lang="es-PE" sz="4000" b="1" dirty="0" smtClean="0"/>
              <a:t>Desarrollo y Despliegue en </a:t>
            </a:r>
            <a:r>
              <a:rPr lang="es-PE" sz="4000" b="1" dirty="0" err="1" smtClean="0"/>
              <a:t>Streamlit</a:t>
            </a:r>
            <a:r>
              <a:rPr lang="es-PE" sz="4000" b="1" dirty="0" smtClean="0"/>
              <a:t> de un Modelo de Machine </a:t>
            </a:r>
            <a:r>
              <a:rPr lang="es-PE" sz="4000" b="1" dirty="0" err="1" smtClean="0"/>
              <a:t>Learning</a:t>
            </a:r>
            <a:r>
              <a:rPr lang="es-PE" sz="4000" b="1" dirty="0" smtClean="0"/>
              <a:t> para la Predicción del Incremento Semestral de la Ejecución Presupuestal en el Perú</a:t>
            </a:r>
            <a:endParaRPr lang="es-PE" sz="4000" b="1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4489526"/>
            <a:ext cx="9144000" cy="680680"/>
          </a:xfrm>
        </p:spPr>
        <p:txBody>
          <a:bodyPr/>
          <a:lstStyle/>
          <a:p>
            <a:r>
              <a:rPr lang="es-PE" b="1" dirty="0" smtClean="0"/>
              <a:t>Caso aplicado al Instituto Tecnológico de la Producción 2018 - 2025</a:t>
            </a:r>
            <a:endParaRPr lang="es-PE" b="1" dirty="0"/>
          </a:p>
        </p:txBody>
      </p:sp>
      <p:sp>
        <p:nvSpPr>
          <p:cNvPr id="4" name="CuadroTexto 3"/>
          <p:cNvSpPr txBox="1"/>
          <p:nvPr/>
        </p:nvSpPr>
        <p:spPr>
          <a:xfrm>
            <a:off x="760576" y="5785504"/>
            <a:ext cx="50477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600" dirty="0" smtClean="0"/>
              <a:t>Propuesta de proyecto de regresión – Grupo 04</a:t>
            </a:r>
          </a:p>
          <a:p>
            <a:r>
              <a:rPr lang="es-PE" sz="1600" dirty="0" smtClean="0"/>
              <a:t>MACHINE LEARNING EN PRODUCCIÓN – DESPLIEGUE WEB</a:t>
            </a:r>
            <a:endParaRPr lang="es-PE" sz="1600" dirty="0"/>
          </a:p>
        </p:txBody>
      </p:sp>
    </p:spTree>
    <p:extLst>
      <p:ext uri="{BB962C8B-B14F-4D97-AF65-F5344CB8AC3E}">
        <p14:creationId xmlns:p14="http://schemas.microsoft.com/office/powerpoint/2010/main" val="958865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smtClean="0"/>
              <a:t>A) Problemática identificada</a:t>
            </a:r>
            <a:endParaRPr lang="es-PE" dirty="0"/>
          </a:p>
        </p:txBody>
      </p:sp>
      <p:sp>
        <p:nvSpPr>
          <p:cNvPr id="4" name="CuadroTexto 3"/>
          <p:cNvSpPr txBox="1"/>
          <p:nvPr/>
        </p:nvSpPr>
        <p:spPr>
          <a:xfrm>
            <a:off x="878202" y="1902172"/>
            <a:ext cx="106314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3200" b="1" i="1" dirty="0" smtClean="0"/>
              <a:t>¿Cuál será el nivel de ejecución presupuestal al cierre de año?</a:t>
            </a:r>
            <a:endParaRPr lang="es-PE" sz="3200" b="1" i="1" dirty="0"/>
          </a:p>
        </p:txBody>
      </p:sp>
      <p:sp>
        <p:nvSpPr>
          <p:cNvPr id="5" name="CuadroTexto 4"/>
          <p:cNvSpPr txBox="1"/>
          <p:nvPr/>
        </p:nvSpPr>
        <p:spPr>
          <a:xfrm>
            <a:off x="427290" y="3477916"/>
            <a:ext cx="474803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b="1" dirty="0" smtClean="0"/>
              <a:t>En la actualidad: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dirty="0" smtClean="0"/>
              <a:t>Se basa en análisis descriptivo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dirty="0" smtClean="0"/>
              <a:t>No se usan modelos predictivos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dirty="0" smtClean="0"/>
              <a:t>No se aprovecha el comportamiento histórico</a:t>
            </a:r>
          </a:p>
        </p:txBody>
      </p:sp>
      <p:sp>
        <p:nvSpPr>
          <p:cNvPr id="6" name="CuadroTexto 5"/>
          <p:cNvSpPr txBox="1"/>
          <p:nvPr/>
        </p:nvSpPr>
        <p:spPr>
          <a:xfrm>
            <a:off x="7212521" y="3477915"/>
            <a:ext cx="46148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b="1" dirty="0" smtClean="0"/>
              <a:t>Propuesta: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dirty="0" smtClean="0"/>
              <a:t>Emplear modelos que usando información hasta junio, prediga cuánto se incrementada la ejecución hasta diciembre</a:t>
            </a:r>
          </a:p>
        </p:txBody>
      </p:sp>
      <p:sp>
        <p:nvSpPr>
          <p:cNvPr id="7" name="Flecha derecha 6"/>
          <p:cNvSpPr/>
          <p:nvPr/>
        </p:nvSpPr>
        <p:spPr>
          <a:xfrm>
            <a:off x="5826452" y="3283208"/>
            <a:ext cx="734938" cy="158974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398874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B</a:t>
            </a:r>
            <a:r>
              <a:rPr lang="es-PE" dirty="0" smtClean="0"/>
              <a:t>) Enfoque metodológico</a:t>
            </a:r>
            <a:endParaRPr lang="es-PE" dirty="0"/>
          </a:p>
        </p:txBody>
      </p:sp>
      <p:sp>
        <p:nvSpPr>
          <p:cNvPr id="3" name="CuadroTexto 2"/>
          <p:cNvSpPr txBox="1"/>
          <p:nvPr/>
        </p:nvSpPr>
        <p:spPr>
          <a:xfrm>
            <a:off x="944333" y="1755998"/>
            <a:ext cx="1055830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3200" b="1" i="1" dirty="0" smtClean="0"/>
              <a:t>Emplear una regresión supervisada cuyo variable objetiva sea medir el Incremento de Ejecución</a:t>
            </a:r>
            <a:endParaRPr lang="es-PE" sz="3200" b="1" i="1" dirty="0"/>
          </a:p>
        </p:txBody>
      </p:sp>
      <p:sp>
        <p:nvSpPr>
          <p:cNvPr id="9" name="CuadroTexto 8"/>
          <p:cNvSpPr txBox="1"/>
          <p:nvPr/>
        </p:nvSpPr>
        <p:spPr>
          <a:xfrm>
            <a:off x="2320526" y="4238714"/>
            <a:ext cx="78059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3200" b="1" dirty="0" smtClean="0"/>
              <a:t>Incremento = %</a:t>
            </a:r>
            <a:r>
              <a:rPr lang="es-PE" sz="3200" b="1" dirty="0" err="1" smtClean="0"/>
              <a:t>ejec_diciembre</a:t>
            </a:r>
            <a:r>
              <a:rPr lang="es-PE" sz="3200" b="1" dirty="0" smtClean="0"/>
              <a:t> - %</a:t>
            </a:r>
            <a:r>
              <a:rPr lang="es-PE" sz="3200" b="1" dirty="0" err="1" smtClean="0"/>
              <a:t>ejec_junio</a:t>
            </a:r>
            <a:endParaRPr lang="es-PE" sz="3200" b="1" dirty="0"/>
          </a:p>
        </p:txBody>
      </p:sp>
      <p:sp>
        <p:nvSpPr>
          <p:cNvPr id="10" name="Flecha abajo 9"/>
          <p:cNvSpPr/>
          <p:nvPr/>
        </p:nvSpPr>
        <p:spPr>
          <a:xfrm>
            <a:off x="5631679" y="3001853"/>
            <a:ext cx="1333144" cy="8973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785822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smtClean="0"/>
              <a:t>C) </a:t>
            </a:r>
            <a:r>
              <a:rPr lang="es-PE" dirty="0" err="1" smtClean="0"/>
              <a:t>Dataset</a:t>
            </a:r>
            <a:r>
              <a:rPr lang="es-PE" dirty="0" smtClean="0"/>
              <a:t> y Variables a Utilizar</a:t>
            </a:r>
            <a:endParaRPr lang="es-PE" dirty="0"/>
          </a:p>
        </p:txBody>
      </p:sp>
      <p:sp>
        <p:nvSpPr>
          <p:cNvPr id="4" name="CuadroTexto 3"/>
          <p:cNvSpPr txBox="1"/>
          <p:nvPr/>
        </p:nvSpPr>
        <p:spPr>
          <a:xfrm>
            <a:off x="1025495" y="1786071"/>
            <a:ext cx="1063489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b="1" dirty="0" err="1" smtClean="0"/>
              <a:t>Dataset</a:t>
            </a:r>
            <a:r>
              <a:rPr lang="es-PE" b="1" dirty="0" smtClean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dirty="0" smtClean="0"/>
              <a:t>Fuente de datos abiertos MEF (</a:t>
            </a:r>
            <a:r>
              <a:rPr lang="es-PE" dirty="0" smtClean="0"/>
              <a:t>2017 </a:t>
            </a:r>
            <a:r>
              <a:rPr lang="es-PE" dirty="0" smtClean="0"/>
              <a:t>– 2025)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dirty="0" smtClean="0"/>
              <a:t>Unidad de análisis: Año </a:t>
            </a:r>
            <a:r>
              <a:rPr lang="es-PE" dirty="0" smtClean="0"/>
              <a:t>- </a:t>
            </a:r>
            <a:r>
              <a:rPr lang="es-PE" dirty="0" smtClean="0"/>
              <a:t>Región </a:t>
            </a:r>
            <a:r>
              <a:rPr lang="es-PE" dirty="0"/>
              <a:t>-</a:t>
            </a:r>
            <a:r>
              <a:rPr lang="es-PE" dirty="0" smtClean="0"/>
              <a:t> </a:t>
            </a:r>
            <a:r>
              <a:rPr lang="es-PE" dirty="0" err="1" smtClean="0"/>
              <a:t>Prog</a:t>
            </a:r>
            <a:r>
              <a:rPr lang="es-PE" dirty="0"/>
              <a:t>.</a:t>
            </a:r>
            <a:r>
              <a:rPr lang="es-PE" dirty="0" smtClean="0"/>
              <a:t> Presupuestal - Tipo </a:t>
            </a:r>
            <a:r>
              <a:rPr lang="es-PE" dirty="0" smtClean="0"/>
              <a:t>(</a:t>
            </a:r>
            <a:r>
              <a:rPr lang="es-PE" dirty="0" err="1" smtClean="0"/>
              <a:t>Proy</a:t>
            </a:r>
            <a:r>
              <a:rPr lang="es-PE" dirty="0" smtClean="0"/>
              <a:t>. </a:t>
            </a:r>
            <a:r>
              <a:rPr lang="es-PE" dirty="0" smtClean="0"/>
              <a:t>/</a:t>
            </a:r>
            <a:r>
              <a:rPr lang="es-PE" dirty="0" err="1" smtClean="0"/>
              <a:t>Prod</a:t>
            </a:r>
            <a:r>
              <a:rPr lang="es-PE" dirty="0"/>
              <a:t>.</a:t>
            </a:r>
            <a:r>
              <a:rPr lang="es-PE" dirty="0" smtClean="0"/>
              <a:t>) </a:t>
            </a:r>
            <a:r>
              <a:rPr lang="es-PE" dirty="0" smtClean="0"/>
              <a:t>– Tipo de </a:t>
            </a:r>
            <a:r>
              <a:rPr lang="es-PE" dirty="0" err="1" smtClean="0"/>
              <a:t>Financ</a:t>
            </a:r>
            <a:r>
              <a:rPr lang="es-PE" dirty="0" smtClean="0"/>
              <a:t>. – Categoría Gasto</a:t>
            </a:r>
            <a:endParaRPr lang="es-PE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dirty="0" smtClean="0"/>
              <a:t>Aproximadamente </a:t>
            </a:r>
            <a:r>
              <a:rPr lang="es-PE" dirty="0" smtClean="0"/>
              <a:t>1,000 </a:t>
            </a:r>
            <a:r>
              <a:rPr lang="es-PE" dirty="0" smtClean="0"/>
              <a:t>registros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dirty="0" smtClean="0"/>
              <a:t>División temporal: Train (</a:t>
            </a:r>
            <a:r>
              <a:rPr lang="es-PE" dirty="0" smtClean="0"/>
              <a:t>2017 </a:t>
            </a:r>
            <a:r>
              <a:rPr lang="es-PE" dirty="0" smtClean="0"/>
              <a:t>– 2023), Test (2024) y Validación final (2025).</a:t>
            </a:r>
            <a:endParaRPr lang="es-PE" dirty="0"/>
          </a:p>
        </p:txBody>
      </p:sp>
      <p:sp>
        <p:nvSpPr>
          <p:cNvPr id="7" name="CuadroTexto 6"/>
          <p:cNvSpPr txBox="1"/>
          <p:nvPr/>
        </p:nvSpPr>
        <p:spPr>
          <a:xfrm>
            <a:off x="1025495" y="3812547"/>
            <a:ext cx="10639708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b="1" dirty="0" smtClean="0"/>
              <a:t>Variables a utilizar: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dirty="0" smtClean="0"/>
              <a:t>PIM : Presupuesto Institucional Modificado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dirty="0" smtClean="0"/>
              <a:t>PIA : Presupuesto Institucional de Apertura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dirty="0" smtClean="0"/>
              <a:t>Tipo: Define si es un proyecto o </a:t>
            </a:r>
            <a:r>
              <a:rPr lang="es-PE" dirty="0" smtClean="0"/>
              <a:t>producto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dirty="0" smtClean="0"/>
              <a:t>Programa Presupuestal: Define el nombre del programa presupuestal donde se asigna y ejecuta presupuesto</a:t>
            </a:r>
            <a:endParaRPr lang="es-PE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dirty="0" smtClean="0"/>
              <a:t>Región: Indica el nombre de la región donde se asigna y ejecuta el presupuesto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dirty="0" smtClean="0"/>
              <a:t>Tipo de financiamiento: Indica la fuente de procedencia del presupuesto </a:t>
            </a:r>
            <a:endParaRPr lang="es-PE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dirty="0" smtClean="0"/>
              <a:t>Categoría Gasto: Indica la categoría de gasto entre gasto Capital y gasto Corriente.</a:t>
            </a:r>
            <a:endParaRPr lang="es-PE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dirty="0" smtClean="0"/>
              <a:t>Devengados: Monto ejecutados en los meses del año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95520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smtClean="0"/>
              <a:t>D) Proceso Técnico y Modelos a Evaluar</a:t>
            </a:r>
            <a:endParaRPr lang="es-PE" dirty="0"/>
          </a:p>
        </p:txBody>
      </p:sp>
      <p:sp>
        <p:nvSpPr>
          <p:cNvPr id="4" name="CuadroTexto 3"/>
          <p:cNvSpPr txBox="1"/>
          <p:nvPr/>
        </p:nvSpPr>
        <p:spPr>
          <a:xfrm>
            <a:off x="6256919" y="3707171"/>
            <a:ext cx="216136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dirty="0" smtClean="0"/>
              <a:t>Regresión linear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dirty="0" err="1" smtClean="0"/>
              <a:t>Random</a:t>
            </a:r>
            <a:r>
              <a:rPr lang="es-PE" dirty="0" smtClean="0"/>
              <a:t> </a:t>
            </a:r>
            <a:r>
              <a:rPr lang="es-PE" dirty="0" err="1" smtClean="0"/>
              <a:t>Forest</a:t>
            </a:r>
            <a:endParaRPr lang="es-PE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dirty="0" err="1" smtClean="0"/>
              <a:t>Gradient</a:t>
            </a:r>
            <a:r>
              <a:rPr lang="es-PE" dirty="0" smtClean="0"/>
              <a:t> </a:t>
            </a:r>
            <a:r>
              <a:rPr lang="es-PE" dirty="0" err="1" smtClean="0"/>
              <a:t>Boosting</a:t>
            </a:r>
            <a:endParaRPr lang="es-PE" dirty="0"/>
          </a:p>
        </p:txBody>
      </p:sp>
      <p:sp>
        <p:nvSpPr>
          <p:cNvPr id="3" name="CuadroTexto 2"/>
          <p:cNvSpPr txBox="1"/>
          <p:nvPr/>
        </p:nvSpPr>
        <p:spPr>
          <a:xfrm>
            <a:off x="1248507" y="1758461"/>
            <a:ext cx="5544851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lphaLcParenR"/>
            </a:pPr>
            <a:r>
              <a:rPr lang="es-PE" dirty="0" smtClean="0"/>
              <a:t>Limpieza y consolidación de datos empleando Python</a:t>
            </a:r>
          </a:p>
          <a:p>
            <a:pPr marL="342900" indent="-342900">
              <a:buAutoNum type="alphaLcParenR"/>
            </a:pPr>
            <a:endParaRPr lang="es-PE" dirty="0" smtClean="0"/>
          </a:p>
          <a:p>
            <a:pPr marL="342900" indent="-342900">
              <a:buAutoNum type="alphaLcParenR"/>
            </a:pPr>
            <a:r>
              <a:rPr lang="es-PE" dirty="0" smtClean="0"/>
              <a:t>Transformación de datos para obtener variables</a:t>
            </a:r>
          </a:p>
          <a:p>
            <a:pPr marL="342900" indent="-342900">
              <a:buAutoNum type="alphaLcParenR"/>
            </a:pPr>
            <a:endParaRPr lang="es-PE" dirty="0" smtClean="0"/>
          </a:p>
          <a:p>
            <a:pPr marL="342900" indent="-342900">
              <a:buAutoNum type="alphaLcParenR"/>
            </a:pPr>
            <a:r>
              <a:rPr lang="es-PE" dirty="0" smtClean="0"/>
              <a:t>Construcción del target</a:t>
            </a:r>
          </a:p>
          <a:p>
            <a:pPr marL="342900" indent="-342900">
              <a:buAutoNum type="alphaLcParenR"/>
            </a:pPr>
            <a:endParaRPr lang="es-PE" dirty="0" smtClean="0"/>
          </a:p>
          <a:p>
            <a:pPr marL="342900" indent="-342900">
              <a:buAutoNum type="alphaLcParenR"/>
            </a:pPr>
            <a:r>
              <a:rPr lang="es-PE" dirty="0" smtClean="0"/>
              <a:t>Pipeline con </a:t>
            </a:r>
            <a:r>
              <a:rPr lang="es-PE" dirty="0" err="1" smtClean="0"/>
              <a:t>OneHotEncoding</a:t>
            </a:r>
            <a:endParaRPr lang="es-PE" dirty="0" smtClean="0"/>
          </a:p>
          <a:p>
            <a:pPr marL="342900" indent="-342900">
              <a:buAutoNum type="alphaLcParenR"/>
            </a:pPr>
            <a:endParaRPr lang="es-PE" dirty="0" smtClean="0"/>
          </a:p>
          <a:p>
            <a:pPr marL="342900" indent="-342900">
              <a:buAutoNum type="alphaLcParenR"/>
            </a:pPr>
            <a:r>
              <a:rPr lang="es-PE" dirty="0" smtClean="0"/>
              <a:t>Entrenamiento y comparación de modelos</a:t>
            </a:r>
          </a:p>
          <a:p>
            <a:pPr marL="342900" indent="-342900">
              <a:buAutoNum type="alphaLcParenR"/>
            </a:pPr>
            <a:endParaRPr lang="es-PE" dirty="0" smtClean="0"/>
          </a:p>
          <a:p>
            <a:pPr marL="342900" indent="-342900">
              <a:buAutoNum type="alphaLcParenR"/>
            </a:pPr>
            <a:r>
              <a:rPr lang="es-PE" dirty="0" smtClean="0"/>
              <a:t>Selección del modelo con menor error</a:t>
            </a:r>
          </a:p>
          <a:p>
            <a:pPr marL="342900" indent="-342900">
              <a:buAutoNum type="alphaLcParenR"/>
            </a:pPr>
            <a:endParaRPr lang="es-PE" dirty="0" smtClean="0"/>
          </a:p>
          <a:p>
            <a:pPr marL="342900" indent="-342900">
              <a:buAutoNum type="alphaLcParenR"/>
            </a:pPr>
            <a:r>
              <a:rPr lang="es-PE" dirty="0" err="1" smtClean="0"/>
              <a:t>Serialización</a:t>
            </a:r>
            <a:r>
              <a:rPr lang="es-PE" dirty="0" smtClean="0"/>
              <a:t> con </a:t>
            </a:r>
            <a:r>
              <a:rPr lang="es-PE" dirty="0" err="1" smtClean="0"/>
              <a:t>joblib</a:t>
            </a:r>
            <a:endParaRPr lang="es-PE" dirty="0" smtClean="0"/>
          </a:p>
          <a:p>
            <a:pPr marL="342900" indent="-342900">
              <a:buAutoNum type="alphaLcParenR"/>
            </a:pPr>
            <a:endParaRPr lang="es-PE" dirty="0" smtClean="0"/>
          </a:p>
          <a:p>
            <a:pPr marL="342900" indent="-342900">
              <a:buAutoNum type="alphaLcParenR"/>
            </a:pPr>
            <a:r>
              <a:rPr lang="es-PE" dirty="0" smtClean="0"/>
              <a:t>Implementación en </a:t>
            </a:r>
            <a:r>
              <a:rPr lang="es-PE" dirty="0" err="1" smtClean="0"/>
              <a:t>Streamlit</a:t>
            </a:r>
            <a:endParaRPr lang="es-PE" dirty="0"/>
          </a:p>
        </p:txBody>
      </p:sp>
      <p:sp>
        <p:nvSpPr>
          <p:cNvPr id="5" name="Abrir llave 4"/>
          <p:cNvSpPr/>
          <p:nvPr/>
        </p:nvSpPr>
        <p:spPr>
          <a:xfrm>
            <a:off x="5820508" y="3642580"/>
            <a:ext cx="518746" cy="105251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Flecha derecha 5"/>
          <p:cNvSpPr/>
          <p:nvPr/>
        </p:nvSpPr>
        <p:spPr>
          <a:xfrm>
            <a:off x="8560149" y="3787893"/>
            <a:ext cx="589084" cy="76188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8" name="CuadroTexto 7"/>
          <p:cNvSpPr txBox="1"/>
          <p:nvPr/>
        </p:nvSpPr>
        <p:spPr>
          <a:xfrm>
            <a:off x="9425353" y="3845670"/>
            <a:ext cx="24071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 smtClean="0"/>
              <a:t>Criterio principal: RMSE</a:t>
            </a:r>
          </a:p>
          <a:p>
            <a:r>
              <a:rPr lang="es-PE" dirty="0" smtClean="0"/>
              <a:t>Secundarios: MAE y R2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087224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E</a:t>
            </a:r>
            <a:r>
              <a:rPr lang="es-PE" dirty="0" smtClean="0"/>
              <a:t>) Despliegue en </a:t>
            </a:r>
            <a:r>
              <a:rPr lang="es-PE" dirty="0" err="1" smtClean="0"/>
              <a:t>Streamlit</a:t>
            </a:r>
            <a:endParaRPr lang="es-PE" dirty="0"/>
          </a:p>
        </p:txBody>
      </p:sp>
      <p:sp>
        <p:nvSpPr>
          <p:cNvPr id="7" name="CuadroTexto 6"/>
          <p:cNvSpPr txBox="1"/>
          <p:nvPr/>
        </p:nvSpPr>
        <p:spPr>
          <a:xfrm>
            <a:off x="489886" y="2638883"/>
            <a:ext cx="3931141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b="1" dirty="0" smtClean="0"/>
              <a:t>Ingresamos: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dirty="0" smtClean="0"/>
              <a:t>Seleccionar </a:t>
            </a:r>
            <a:r>
              <a:rPr lang="es-PE" dirty="0" smtClean="0"/>
              <a:t>región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dirty="0" smtClean="0"/>
              <a:t>Seleccionar programa presupuestal</a:t>
            </a:r>
            <a:endParaRPr lang="es-PE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dirty="0" smtClean="0"/>
              <a:t>Seleccionar tipo (proyecto/actividad)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dirty="0" smtClean="0"/>
              <a:t>Seleccionar tipo de </a:t>
            </a:r>
            <a:r>
              <a:rPr lang="es-PE" dirty="0" smtClean="0"/>
              <a:t>financiamiento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dirty="0" smtClean="0"/>
              <a:t>Seleccionar categoría gasto</a:t>
            </a:r>
            <a:endParaRPr lang="es-PE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dirty="0" smtClean="0"/>
              <a:t>Ingresar PIM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dirty="0" smtClean="0"/>
              <a:t>Ingresar porcentajes enero - junio</a:t>
            </a:r>
            <a:endParaRPr lang="es-PE" dirty="0"/>
          </a:p>
        </p:txBody>
      </p:sp>
      <p:sp>
        <p:nvSpPr>
          <p:cNvPr id="9" name="Rectángulo 8"/>
          <p:cNvSpPr/>
          <p:nvPr/>
        </p:nvSpPr>
        <p:spPr>
          <a:xfrm>
            <a:off x="5341122" y="3125925"/>
            <a:ext cx="2059537" cy="1081043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3600" b="1" dirty="0" smtClean="0"/>
              <a:t>PROCESO</a:t>
            </a:r>
            <a:endParaRPr lang="es-PE" sz="3600" b="1" dirty="0"/>
          </a:p>
        </p:txBody>
      </p:sp>
      <p:sp>
        <p:nvSpPr>
          <p:cNvPr id="10" name="Flecha derecha 9"/>
          <p:cNvSpPr/>
          <p:nvPr/>
        </p:nvSpPr>
        <p:spPr>
          <a:xfrm>
            <a:off x="4589092" y="3031461"/>
            <a:ext cx="418744" cy="126996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Flecha derecha 10"/>
          <p:cNvSpPr/>
          <p:nvPr/>
        </p:nvSpPr>
        <p:spPr>
          <a:xfrm>
            <a:off x="7733945" y="3031460"/>
            <a:ext cx="418744" cy="126996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2" name="CuadroTexto 11"/>
          <p:cNvSpPr txBox="1"/>
          <p:nvPr/>
        </p:nvSpPr>
        <p:spPr>
          <a:xfrm>
            <a:off x="8488819" y="3192881"/>
            <a:ext cx="327589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b="1" dirty="0" smtClean="0"/>
              <a:t>Obtenemos: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dirty="0" smtClean="0"/>
              <a:t>Incremento proyectado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dirty="0" smtClean="0"/>
              <a:t>% ejecución anual proyectado</a:t>
            </a:r>
          </a:p>
        </p:txBody>
      </p:sp>
    </p:spTree>
    <p:extLst>
      <p:ext uri="{BB962C8B-B14F-4D97-AF65-F5344CB8AC3E}">
        <p14:creationId xmlns:p14="http://schemas.microsoft.com/office/powerpoint/2010/main" val="6959391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smtClean="0"/>
              <a:t>F) Resultado Esperado</a:t>
            </a:r>
            <a:endParaRPr lang="es-PE" dirty="0"/>
          </a:p>
        </p:txBody>
      </p:sp>
      <p:sp>
        <p:nvSpPr>
          <p:cNvPr id="3" name="CuadroTexto 2"/>
          <p:cNvSpPr txBox="1"/>
          <p:nvPr/>
        </p:nvSpPr>
        <p:spPr>
          <a:xfrm>
            <a:off x="984733" y="2153624"/>
            <a:ext cx="1022253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PE" sz="2400" dirty="0" smtClean="0"/>
              <a:t>Contar con una herramienta interactiva que permita anticipar el cierre presupuestal usando datos históricos y aprendizaje automático.</a:t>
            </a:r>
          </a:p>
          <a:p>
            <a:pPr algn="just"/>
            <a:endParaRPr lang="es-PE" sz="2400" dirty="0" smtClean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PE" sz="2400" dirty="0" smtClean="0"/>
              <a:t>Demostrar como técnicas de Machine </a:t>
            </a:r>
            <a:r>
              <a:rPr lang="es-PE" sz="2400" dirty="0" err="1" smtClean="0"/>
              <a:t>Learning</a:t>
            </a:r>
            <a:r>
              <a:rPr lang="es-PE" sz="2400" dirty="0" smtClean="0"/>
              <a:t> pueden integrarse en entornos reales a la gestión pública mediante despliegue web, transformando análisis descriptivos en herramientas predictivas para la toma de decisiones.</a:t>
            </a:r>
          </a:p>
        </p:txBody>
      </p:sp>
    </p:spTree>
    <p:extLst>
      <p:ext uri="{BB962C8B-B14F-4D97-AF65-F5344CB8AC3E}">
        <p14:creationId xmlns:p14="http://schemas.microsoft.com/office/powerpoint/2010/main" val="329379939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438</Words>
  <Application>Microsoft Office PowerPoint</Application>
  <PresentationFormat>Panorámica</PresentationFormat>
  <Paragraphs>68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Tema de Office</vt:lpstr>
      <vt:lpstr>Desarrollo y Despliegue en Streamlit de un Modelo de Machine Learning para la Predicción del Incremento Semestral de la Ejecución Presupuestal en el Perú</vt:lpstr>
      <vt:lpstr>A) Problemática identificada</vt:lpstr>
      <vt:lpstr>B) Enfoque metodológico</vt:lpstr>
      <vt:lpstr>C) Dataset y Variables a Utilizar</vt:lpstr>
      <vt:lpstr>D) Proceso Técnico y Modelos a Evaluar</vt:lpstr>
      <vt:lpstr>E) Despliegue en Streamlit</vt:lpstr>
      <vt:lpstr>F) Resultado Esperado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Desarrollo y Despliegue en Streamlit de un Modelo de Machine Learning para la Predicción del Incremento Semestral de la Ejecución Presupuestal en el Perú</dc:title>
  <dc:creator>Hewlett-Packard Company</dc:creator>
  <cp:lastModifiedBy>Hewlett-Packard Company</cp:lastModifiedBy>
  <cp:revision>8</cp:revision>
  <dcterms:created xsi:type="dcterms:W3CDTF">2026-02-26T21:50:26Z</dcterms:created>
  <dcterms:modified xsi:type="dcterms:W3CDTF">2026-03-05T19:54:22Z</dcterms:modified>
</cp:coreProperties>
</file>